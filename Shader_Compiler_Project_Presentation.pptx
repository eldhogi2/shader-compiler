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097280"/>
            <a:ext cx="3291840" cy="347472"/>
          </a:xfrm>
          <a:prstGeom prst="roundRect">
            <a:avLst/>
          </a:prstGeom>
          <a:solidFill>
            <a:srgbClr val="18263E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D2FF"/>
                </a:solidFill>
              </a:defRPr>
            </a:pPr>
            <a:r>
              <a:t>ACADEMIC COMPILER &amp; ENGINE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600200"/>
            <a:ext cx="9784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5F7FA"/>
                </a:solidFill>
              </a:defRPr>
            </a:pPr>
            <a:r>
              <a:t>Shader Program Compiler</a:t>
            </a:r>
          </a:p>
          <a:p>
            <a:pPr>
              <a:defRPr sz="2800" b="1">
                <a:solidFill>
                  <a:srgbClr val="00D2FF"/>
                </a:solidFill>
              </a:defRPr>
            </a:pPr>
            <a:r>
              <a:t>2D/3D Graphics &amp; Game DSL Engine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A Declarative High-Level Domain-Specific Language (DSL) &amp; C++ Transpiler Compiling to Native Hardware-Accelerated OpenGL 2.1 + SDL2 Binaries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931920"/>
            <a:ext cx="1874519" cy="384048"/>
          </a:xfrm>
          <a:prstGeom prst="roundRect">
            <a:avLst/>
          </a:prstGeom>
          <a:solidFill>
            <a:srgbClr val="121928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D2FF"/>
                </a:solidFill>
              </a:defRPr>
            </a:pPr>
            <a:r>
              <a:t>⚡ C++17 Transpiler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3931920"/>
            <a:ext cx="1874519" cy="384048"/>
          </a:xfrm>
          <a:prstGeom prst="roundRect">
            <a:avLst/>
          </a:prstGeom>
          <a:solidFill>
            <a:srgbClr val="12192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🎮 Hardware OpenGL 2.1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3931920"/>
            <a:ext cx="1874519" cy="384048"/>
          </a:xfrm>
          <a:prstGeom prst="roundRect">
            <a:avLst/>
          </a:prstGeom>
          <a:solidFill>
            <a:srgbClr val="121928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✨ Real-time GLSL Shaders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3931920"/>
            <a:ext cx="1874519" cy="384048"/>
          </a:xfrm>
          <a:prstGeom prst="roundRect">
            <a:avLst/>
          </a:prstGeom>
          <a:solidFill>
            <a:srgbClr val="121928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🏓 2D Pong with AI Physics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3931920"/>
            <a:ext cx="1874519" cy="384048"/>
          </a:xfrm>
          <a:prstGeom prst="roundRect">
            <a:avLst/>
          </a:prstGeom>
          <a:solidFill>
            <a:srgbClr val="121928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472B6"/>
                </a:solidFill>
              </a:defRPr>
            </a:pPr>
            <a:r>
              <a:t>🕹️ 3D First-Person POV World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7FA"/>
                </a:solidFill>
              </a:defRPr>
            </a:pPr>
            <a:r>
              <a:t>Student Author: Eldho  |  Semester 3 Mini Project  |  Repository: github.com/eldhoGI2/shader-compiler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0D2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Executive Summary: The Bridge from High-Level Script to GPU Native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D2FF"/>
                </a:solidFill>
              </a:defRPr>
            </a:pPr>
            <a:r>
              <a:t>1. Declarative DSL (.my)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High-level declarative syntax that replaces hundreds of lines of OpenGL boilerplate.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Expressive commands: 'window 800 600', 'bg #060614', 'shader grid', 'pong', 'mode_3d'.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35+ named color dictionary (cyan, crimson, gold, neon_green) + hex codes (#RRGGBB).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Built-in 2D shapes, outlines, transformations, and multi-color linear gradients.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54480"/>
            <a:ext cx="3328416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</a:defRPr>
            </a:pPr>
            <a:r>
              <a:t>2. Automated Transpiler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Full source-to-source compiler architecture built with modern C++ (Lexer, Parser, AST, CodeGen).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Translates .my domain language into high-efficiency intermediate C code (generated_game.c).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Automatically invokes GCC and links hardware libraries (-lSDL2 -lGL -lGLU -lm).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Produces an optimized, standalone 60 FPS desktop binary in one seamless step: ./mycompiler script.my.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54480"/>
            <a:ext cx="3328416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3. GPU Hardware Engine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OpenGL 2.1 + SDL2 backend engine with hardware-accelerated vertex &amp; fragment pipeline.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8+ real-time GLSL fragment shaders (Plasma, Cyberpunk Grid, Waves, CRT, Starfield).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Interactive 2D Pong with ball reflection physics, AI paddle tracking, and live retro scoreboard.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Navigable 3D first-person POV world with WASD movement, mouse camera, and wall collision.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0D2FF"/>
                </a:solidFill>
              </a:defRPr>
            </a:pPr>
            <a:r>
              <a:t>CHALLENGE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The Problem: The Extreme Verbosity of Raw C &amp; OpenGL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Why Low-Level C Graphics Frustrates Developers</a:t>
            </a:r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❌ Massive Boilerplate Overhead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   To draw a single circle or rectangle, a developer must write 50+ lines of window subsystem initialization, pixel formats, and GL context setup.</a:t>
            </a:r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❌ Manual OpenGL State Machine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   Developers must manually manage matrix stacks (GL_PROJECTION, GL_MODELVIEW), orthogonal projections, vertex arrays, and double-buffering.</a:t>
            </a:r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❌ Complex GLSL Shader Lifecycle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   Compiling shaders requires manual shader object creation, source loading, error log querying, program attachment, uniform location caching, and linking.</a:t>
            </a:r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❌ High Cognitive Barrier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   Students and designers spending 90% of their time fighting syntax and API quirks instead of focusing on graphics logic, animations, or gameplay.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54480"/>
            <a:ext cx="5425135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5F7FA"/>
                </a:solidFill>
              </a:defRPr>
            </a:pPr>
            <a:r>
              <a:t>Actual Raw C + OpenGL 2.1 Code (50+ Lines Required)</a:t>
            </a:r>
          </a:p>
        </p:txBody>
      </p:sp>
      <p:pic>
        <p:nvPicPr>
          <p:cNvPr id="9" name="Picture 8" descr="code_boilerplate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48840"/>
            <a:ext cx="5059375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0D2FF"/>
                </a:solidFill>
              </a:defRPr>
            </a:pPr>
            <a:r>
              <a:t>THE DSL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How We Made It Easier: Declarative Syntax &amp; One Command, One Intent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D2FF"/>
                </a:solidFill>
              </a:defRPr>
            </a:pPr>
            <a:r>
              <a:t>The Declarative Language Philosophy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✅ One Intent = One Readable Line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   Replacing 50 lines of C boilerplate with 'window 800 600', 'bg #060614', 'fill_circle 400 300 80 red'.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✅ Zero Boilerplate Programming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   The programmer declares WHAT should be on screen, while the compiler and runtime handle HOW the GPU renders it.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✅ Color &amp; Math Abstraction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   Built-in 35+ named color dictionary (gold, cyan, lime, coral), hex support (#00d2ff), and automatic degree-to-radian conversion.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✅ Instant Game &amp; 3D Modes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   Activating full interactive physics and 3D camera with single declarative keywords: 'pong' and 'mode_3d'.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54480"/>
            <a:ext cx="5425135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0B981"/>
                </a:solidFill>
              </a:defRPr>
            </a:pPr>
            <a:r>
              <a:t>The DSL Equivalent: 4 Clean, Readable Lines</a:t>
            </a:r>
          </a:p>
        </p:txBody>
      </p:sp>
      <p:pic>
        <p:nvPicPr>
          <p:cNvPr id="9" name="Picture 8" descr="code_dsl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94560"/>
            <a:ext cx="5059375" cy="1645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4114800"/>
            <a:ext cx="5059375" cy="2011680"/>
          </a:xfrm>
          <a:prstGeom prst="roundRect">
            <a:avLst/>
          </a:prstGeom>
          <a:solidFill>
            <a:srgbClr val="1C2436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Code Reduction &amp; Efficiency Impact</a:t>
            </a:r>
          </a:p>
          <a:p>
            <a:pPr>
              <a:defRPr sz="1150">
                <a:solidFill>
                  <a:srgbClr val="F5F7FA"/>
                </a:solidFill>
              </a:defRPr>
            </a:pPr>
            <a:r>
              <a:t>• Lines of Code: Reduced from 55 lines to 4 lines (92.7% reduction)</a:t>
            </a:r>
            <a:br/>
            <a:r>
              <a:t>• Compilation Time: &lt; 0.6 seconds from .my script to running native binary</a:t>
            </a:r>
            <a:br/>
            <a:r>
              <a:t>• Error Prevention: Zero dangling pointers, zero GL state leaks, zero context bugs.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0D2FF"/>
                </a:solidFill>
              </a:defRPr>
            </a:pPr>
            <a:r>
              <a:t>COMPILER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System Architecture: End-to-End Transpiler &amp; Execution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210312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10545775" cy="1920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886200"/>
            <a:ext cx="3328416" cy="2468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29626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2FF"/>
                </a:solidFill>
              </a:defRPr>
            </a:pPr>
            <a:r>
              <a:t>1. Frontend (Lexer &amp; AST)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• Reads .my source file and strips comments.</a:t>
            </a:r>
            <a:br/>
            <a:r>
              <a:t>• Tokenizes into classified tokens (TOKEN_WINDOW, TOKEN_CUBE, TOKEN_PONG).</a:t>
            </a:r>
            <a:br/>
            <a:r>
              <a:t>• Validates parameters and builds structured AST.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3886200"/>
            <a:ext cx="3328416" cy="2468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4023360"/>
            <a:ext cx="29626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2. Transpiler CodeGen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• Emits ANSI C code into generated_game.c.</a:t>
            </a:r>
            <a:br/>
            <a:r>
              <a:t>• Injects #include "graphics_runtime.h".</a:t>
            </a:r>
            <a:br/>
            <a:r>
              <a:t>• Packages draw calls into high-speed compiled OpenGL display lists (glNewList).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3886200"/>
            <a:ext cx="3328416" cy="2468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4023360"/>
            <a:ext cx="29626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3. GCC Linking &amp; Binary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• Invokes GCC automatically via system().</a:t>
            </a:r>
            <a:br/>
            <a:r>
              <a:t>• Flags: -lSDL2 -lGL -lGLU -lm.</a:t>
            </a:r>
            <a:br/>
            <a:r>
              <a:t>• Outputs final_game: a 60 FPS standalone native desktop executable with GPU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0D2FF"/>
                </a:solidFill>
              </a:defRPr>
            </a:pPr>
            <a:r>
              <a:t>FILE-BY-FILE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Codebase Architecture: What Each Group of Files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2402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2FF"/>
                </a:solidFill>
              </a:defRPr>
            </a:pPr>
            <a:r>
              <a:t>1. Compiler Frontend Core (compiler.cpp)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• Token definitions: 50+ token types for environment, shapes, 3D, and games.</a:t>
            </a:r>
            <a:br/>
            <a:r>
              <a:t>• Lexer &amp; Scanner: Regex/string analysis, stripping comments (#), token stream.</a:t>
            </a:r>
            <a:br/>
            <a:r>
              <a:t>• Syntax Analyzer &amp; AST: Parameter count checking and syntax enforcement.</a:t>
            </a:r>
            <a:br/>
            <a:r>
              <a:t>• Code Generator: Emits generated_game.c and triggers GCC build command.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554480"/>
            <a:ext cx="5120640" cy="22402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2415" y="164592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2. Runtime Backend Engine (graphics_runtime.h)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• Hardware Lifecycle: SDL2 window creation &amp; OpenGL 2.1 context management.</a:t>
            </a:r>
            <a:br/>
            <a:r>
              <a:t>• Shader Engine: Compiles GLSL fragment shaders (Plasma, Grid, CRT, Starfield).</a:t>
            </a:r>
            <a:br/>
            <a:r>
              <a:t>• 2D &amp; 3D Math: Trigonometric circle approximations, matrix stacks, 3D camera.</a:t>
            </a:r>
            <a:br/>
            <a:r>
              <a:t>• Physics &amp; Collision: Pong ball reflection physics and 3D wall sliding collision.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22402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3. DSL Game &amp; Graphics Programs (*.my)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• demo.my: Original Review 1 baseline proof-of-concept.</a:t>
            </a:r>
            <a:br/>
            <a:r>
              <a:t>• showcase.my: 10+ 2D shapes, 35+ named colors, and linear gradient fills.</a:t>
            </a:r>
            <a:br/>
            <a:r>
              <a:t>• cyberpunk.my: GLSL fragment shaders, gradients, and affine transformations.</a:t>
            </a:r>
            <a:br/>
            <a:r>
              <a:t>• pong.my: Full interactive 2D Pong game with AI paddle and live scoreboard.</a:t>
            </a:r>
            <a:br/>
            <a:r>
              <a:t>• world3d.my: Navigable 3D first-person POV room with collision obstacles.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9535" y="3977639"/>
            <a:ext cx="5120640" cy="22402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2415" y="406908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4. Intermediates &amp; Native Artifacts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• generated_game.c: Intermediate ANSI C code generated by compiler.cpp.</a:t>
            </a:r>
            <a:br/>
            <a:r>
              <a:t>• mycompiler: The compiled C++ compiler binary (built via g++ compiler.cpp).</a:t>
            </a:r>
            <a:br/>
            <a:r>
              <a:t>• final_game: The final linked OpenGL 2.1 + SDL2 desktop graphics executable.</a:t>
            </a:r>
            <a:br/>
            <a:r>
              <a:t>• plasma.frag: User-loadable custom GLSL fragment shader source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0D2FF"/>
                </a:solidFill>
              </a:defRPr>
            </a:pPr>
            <a:r>
              <a:t>COMPILER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Frontend Compiler: Token Enum, Lexer &amp; Abstract Syntax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compiler.cpp — Token Definitions &amp; AST Node Structure</a:t>
            </a:r>
          </a:p>
        </p:txBody>
      </p:sp>
      <p:pic>
        <p:nvPicPr>
          <p:cNvPr id="7" name="Picture 6" descr="code_lexer_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4937760" cy="39776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A"/>
                </a:solidFill>
              </a:defRPr>
            </a:pPr>
            <a:r>
              <a:t>Lexer &amp; Parser Mechanics</a:t>
            </a:r>
          </a:p>
          <a:p>
            <a:pPr>
              <a:defRPr sz="1250" b="1">
                <a:solidFill>
                  <a:srgbClr val="00D2FF"/>
                </a:solidFill>
              </a:defRPr>
            </a:pPr>
            <a:r>
              <a:t>• Token Classification: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Categorizes source text into Window, Shapes, Gradients, Transformations, 3D Commands, and Game Entities.</a:t>
            </a:r>
          </a:p>
          <a:p>
            <a:pPr>
              <a:defRPr sz="1250" b="1">
                <a:solidFill>
                  <a:srgbClr val="00D2FF"/>
                </a:solidFill>
              </a:defRPr>
            </a:pPr>
            <a:r>
              <a:t>• Smart Color Tokenizer: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The lexer intercepts named colors (gold, cyan, lime), hex strings (#RRGGBB), and numeric triplets (255 128 0), unifying them into ColorRGB structs.</a:t>
            </a:r>
          </a:p>
          <a:p>
            <a:pPr>
              <a:defRPr sz="1250" b="1">
                <a:solidFill>
                  <a:srgbClr val="00D2FF"/>
                </a:solidFill>
              </a:defRPr>
            </a:pPr>
            <a:r>
              <a:t>• Comment &amp; Whitespace Handling: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Strips shell-style comments (# ...) and normalizes tabs/spaces while preserving accurate line tracking for syntax error messages.</a:t>
            </a:r>
          </a:p>
          <a:p>
            <a:pPr>
              <a:defRPr sz="1250" b="1">
                <a:solidFill>
                  <a:srgbClr val="00D2FF"/>
                </a:solidFill>
              </a:defRPr>
            </a:pPr>
            <a:r>
              <a:t>• AST Node Hierarchy: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Each statement maps to an AST node that enforces argument count and type requirements before code emission begins.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0D2FF"/>
                </a:solidFill>
              </a:defRPr>
            </a:pPr>
            <a:r>
              <a:t>CODE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Backend Transpiler: Code Generation &amp; Automated GCC Linker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</a:defRPr>
            </a:pPr>
            <a:r>
              <a:t>From DSL Tokens to High-Speed C Code</a:t>
            </a:r>
          </a:p>
          <a:p>
            <a:pPr>
              <a:defRPr sz="1300" b="1">
                <a:solidFill>
                  <a:srgbClr val="00D2FF"/>
                </a:solidFill>
              </a:defRPr>
            </a:pPr>
            <a:r>
              <a:t>⚙️ Intermediate Code Emission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The compiler outputs generated_game.c, transforming high-level DSL primitives into clean C runtime function calls.</a:t>
            </a:r>
          </a:p>
          <a:p>
            <a:pPr>
              <a:defRPr sz="1300" b="1">
                <a:solidFill>
                  <a:srgbClr val="00D2FF"/>
                </a:solidFill>
              </a:defRPr>
            </a:pPr>
            <a:r>
              <a:t>⚙️ Display List Pre-compilation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Static geometry is wrapped inside glNewList(scene, GL_COMPILE) blocks, offloading primitive vertex calculations to the GPU driver during setup.</a:t>
            </a:r>
          </a:p>
          <a:p>
            <a:pPr>
              <a:defRPr sz="1300" b="1">
                <a:solidFill>
                  <a:srgbClr val="00D2FF"/>
                </a:solidFill>
              </a:defRPr>
            </a:pPr>
            <a:r>
              <a:t>⚙️ Mode Flag Detection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Detects is_pong_mode and is_3d_mode flags to route control flow to run_pong_game() or run_3d_engine() respectively.</a:t>
            </a:r>
          </a:p>
          <a:p>
            <a:pPr>
              <a:defRPr sz="1300" b="1">
                <a:solidFill>
                  <a:srgbClr val="00D2FF"/>
                </a:solidFill>
              </a:defRPr>
            </a:pPr>
            <a:r>
              <a:t>⚙️ Automated Native Linker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Runs: gcc generated_game.c -lSDL2 -lGL -lGLU -lm -o final_game seamlessly in the background without needing a manual Makefile.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7FA"/>
                </a:solidFill>
              </a:defRPr>
            </a:pPr>
            <a:r>
              <a:t>compiler.cpp — Code Generation Logic</a:t>
            </a:r>
          </a:p>
        </p:txBody>
      </p:sp>
      <p:pic>
        <p:nvPicPr>
          <p:cNvPr id="9" name="Picture 8" descr="code_transpiler_code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48840"/>
            <a:ext cx="4876495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0D2FF"/>
                </a:solidFill>
              </a:defRPr>
            </a:pPr>
            <a:r>
              <a:t>GRAPHICS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Runtime Backend: OpenGL 2.1 &amp; GLSL Fragment Shader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graphics_runtime.h — GLSL Shader Compiler &amp; Linker</a:t>
            </a:r>
          </a:p>
        </p:txBody>
      </p:sp>
      <p:pic>
        <p:nvPicPr>
          <p:cNvPr id="7" name="Picture 6" descr="code_runtime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4937760" cy="39776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A"/>
                </a:solidFill>
              </a:defRPr>
            </a:pPr>
            <a:r>
              <a:t>Hardware Engine Features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✨ Fixed &amp; Programmable Dual Pipeline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Combines high-speed OpenGL 2 fixed-function display lists with programmable GLSL fragment shaders.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✨ Dynamic Uniform Passing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Automatically passes u_time (seconds elapsed since launch) and u_resolution (width, height) to active fragment shaders at 60 FPS.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✨ 8+ Built-in Shaders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Plasma, Cyberpunk Grid, Waves, CRT Scanlines, Starfield, Neon Tunnel, Water Ripple, and Custom Shader file loading.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✨ Live Hot-Swapping [SPACE]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Users can press the Spacebar during runtime to cycle between GPU shaders on the fly without restarting the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0D2FF"/>
                </a:solidFill>
              </a:defRPr>
            </a:pPr>
            <a:r>
              <a:t>MATH &amp;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Physics &amp; Mathematics: 2D &amp; 3D Real-Time Collision Engines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graphics_runtime.h — 3D Camera &amp; Wall Sliding Collision</a:t>
            </a:r>
          </a:p>
        </p:txBody>
      </p:sp>
      <p:pic>
        <p:nvPicPr>
          <p:cNvPr id="7" name="Picture 6" descr="code_runtime_coll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4937760" cy="39776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F7FA"/>
                </a:solidFill>
              </a:defRPr>
            </a:pPr>
            <a:r>
              <a:t>Collision Formulas &amp; Implementation</a:t>
            </a:r>
          </a:p>
          <a:p>
            <a:pPr>
              <a:defRPr sz="1250" b="1">
                <a:solidFill>
                  <a:srgbClr val="F59E0B"/>
                </a:solidFill>
              </a:defRPr>
            </a:pPr>
            <a:r>
              <a:t>📐 2D Pong: AABB vs. Circle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Collision occurs when the ball center is within paddle bounds expanded by the ball radius:</a:t>
            </a:r>
            <a:br/>
            <a:r>
              <a:t>|x_ball - x_paddle_center| &lt;= w/2 + r  AND</a:t>
            </a:r>
            <a:br/>
            <a:r>
              <a:t>|y_ball - y_paddle_center| &lt;= h/2 + r.</a:t>
            </a:r>
            <a:br/>
            <a:r>
              <a:t>Angles dynamically deflect based on paddle impact offset.</a:t>
            </a:r>
          </a:p>
          <a:p>
            <a:pPr>
              <a:defRPr sz="1250" b="1">
                <a:solidFill>
                  <a:srgbClr val="F59E0B"/>
                </a:solidFill>
              </a:defRPr>
            </a:pPr>
            <a:r>
              <a:t>📐 3D Wall-Sliding Collision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Candidate positions (nx, nz) are tested independently against cube/wall boundaries. If an obstacle blocks movement along X, nx is clamped while nz remains free — producing realistic wall-sliding motion.</a:t>
            </a:r>
          </a:p>
          <a:p>
            <a:pPr>
              <a:defRPr sz="1250" b="1">
                <a:solidFill>
                  <a:srgbClr val="F59E0B"/>
                </a:solidFill>
              </a:defRPr>
            </a:pPr>
            <a:r>
              <a:t>📐 AI Paddle Reaction Modeling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AI tracks the ball's Y-coordinate with intentional reaction delay and bounded speed, creating a balanced, competitive opponent.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0D2FF"/>
                </a:solidFill>
              </a:defRPr>
            </a:pPr>
            <a:r>
              <a:t>OUTPUT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Visual Output 1: 2D Geometry &amp; 35+ Named Color System (showcase.my)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389120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2FF"/>
                </a:solidFill>
              </a:defRPr>
            </a:pPr>
            <a:r>
              <a:t>2D Vector Primitives &amp; Palette</a:t>
            </a:r>
          </a:p>
          <a:p>
            <a:pPr>
              <a:defRPr sz="1250" b="1">
                <a:solidFill>
                  <a:srgbClr val="F5F7FA"/>
                </a:solidFill>
              </a:defRPr>
            </a:pPr>
            <a:r>
              <a:t>🎨 Rich Geometry Suite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Supports rectangles, rounded rectangles, squares, centered boxes, circles, and ellipses in both filled and outline modes.</a:t>
            </a:r>
          </a:p>
          <a:p>
            <a:pPr>
              <a:defRPr sz="1250" b="1">
                <a:solidFill>
                  <a:srgbClr val="F5F7FA"/>
                </a:solidFill>
              </a:defRPr>
            </a:pPr>
            <a:r>
              <a:t>🎨 35+ Color Dictionary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Built-in named colors: cyan, magenta, gold, coral, emerald, indigo, teal, violet, neon_green, crimson.</a:t>
            </a:r>
          </a:p>
          <a:p>
            <a:pPr>
              <a:defRPr sz="1250" b="1">
                <a:solidFill>
                  <a:srgbClr val="F5F7FA"/>
                </a:solidFill>
              </a:defRPr>
            </a:pPr>
            <a:r>
              <a:t>🎨 Hex Color Support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Direct support for standard web hex colors like #ff5722, #00d2ff, #1e1e2e.</a:t>
            </a:r>
          </a:p>
          <a:p>
            <a:pPr>
              <a:defRPr sz="1250" b="1">
                <a:solidFill>
                  <a:srgbClr val="F5F7FA"/>
                </a:solidFill>
              </a:defRPr>
            </a:pPr>
            <a:r>
              <a:t>🎨 Execution Command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./mycompiler showcase.my &amp;&amp; ./final_game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554480"/>
            <a:ext cx="6156655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169164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Actual Running Output: 2D Shapes &amp; Anti-Aliased Vector Geometry</a:t>
            </a:r>
          </a:p>
        </p:txBody>
      </p:sp>
      <p:pic>
        <p:nvPicPr>
          <p:cNvPr id="9" name="Picture 8" descr="output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148840"/>
            <a:ext cx="5790895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0D2FF"/>
                </a:solidFill>
              </a:defRPr>
            </a:pPr>
            <a:r>
              <a:t>OUTPUT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Visual Output 2: GPU Fragment Shaders &amp; Transformations (cyberpunk.my)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389120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GPU Shaders &amp; Transformations</a:t>
            </a:r>
          </a:p>
          <a:p>
            <a:pPr>
              <a:defRPr sz="1250" b="1">
                <a:solidFill>
                  <a:srgbClr val="F5F7FA"/>
                </a:solidFill>
              </a:defRPr>
            </a:pPr>
            <a:r>
              <a:t>🔮 Live Fragment Shader Background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Executes real-time animated GLSL shader code calculating per-pixel plasma and grid effects at 60 FPS.</a:t>
            </a:r>
          </a:p>
          <a:p>
            <a:pPr>
              <a:defRPr sz="1250" b="1">
                <a:solidFill>
                  <a:srgbClr val="F5F7FA"/>
                </a:solidFill>
              </a:defRPr>
            </a:pPr>
            <a:r>
              <a:t>🔮 Multi-Color Linear Gradients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gradient_rect creates smooth color transitions between vertical and horizontal stops.</a:t>
            </a:r>
          </a:p>
          <a:p>
            <a:pPr>
              <a:defRPr sz="1250" b="1">
                <a:solidFill>
                  <a:srgbClr val="F5F7FA"/>
                </a:solidFill>
              </a:defRPr>
            </a:pPr>
            <a:r>
              <a:t>🔮 Matrix Stack Transformations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rotate &lt;deg&gt;, translate &lt;dx&gt; &lt;dy&gt;, scale &lt;sx&gt; &lt;sy&gt;, with push and pop scoping.</a:t>
            </a:r>
          </a:p>
          <a:p>
            <a:pPr>
              <a:defRPr sz="1250" b="1">
                <a:solidFill>
                  <a:srgbClr val="F5F7FA"/>
                </a:solidFill>
              </a:defRPr>
            </a:pPr>
            <a:r>
              <a:t>🔮 Execution Command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./mycompiler cyberpunk.my &amp;&amp; ./final_game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554480"/>
            <a:ext cx="6156655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169164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Actual Running Output: Animated GPU Fragment Shader &amp; Cyberpunk Aesthetics</a:t>
            </a:r>
          </a:p>
        </p:txBody>
      </p:sp>
      <p:pic>
        <p:nvPicPr>
          <p:cNvPr id="9" name="Picture 8" descr="output_cyberpu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148840"/>
            <a:ext cx="5790895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0D2FF"/>
                </a:solidFill>
              </a:defRPr>
            </a:pPr>
            <a:r>
              <a:t>GAME ENGINE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Visual Output 3: Interactive 2D Pong Game Engine (pong.my)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DSL Game Script: pong.my (Only 10 Lines!)</a:t>
            </a:r>
          </a:p>
        </p:txBody>
      </p:sp>
      <p:pic>
        <p:nvPicPr>
          <p:cNvPr id="7" name="Picture 6" descr="code_pong_scr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4754880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14400" y="4663440"/>
            <a:ext cx="4754880" cy="1463040"/>
          </a:xfrm>
          <a:prstGeom prst="roundRect">
            <a:avLst/>
          </a:prstGeom>
          <a:solidFill>
            <a:srgbClr val="1C2436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70916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Interactive Features in pong.my</a:t>
            </a:r>
          </a:p>
          <a:p>
            <a:pPr>
              <a:defRPr sz="1050">
                <a:solidFill>
                  <a:srgbClr val="F5F7FA"/>
                </a:solidFill>
              </a:defRPr>
            </a:pPr>
            <a:r>
              <a:t>• Player 1 controls paddle via W / S or Up / Down.</a:t>
            </a:r>
            <a:br/>
            <a:r>
              <a:t>• Autonomous AI tracks ball position in real-time.</a:t>
            </a:r>
            <a:br/>
            <a:r>
              <a:t>• Live retro bitmap font scoreboard and reset key (R).</a:t>
            </a:r>
            <a:br/>
            <a:r>
              <a:t>• Press [SPACE] live to switch background shaders!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554480"/>
            <a:ext cx="5425135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Actual Running Output: Hardware-Accelerated 2D Pong Game</a:t>
            </a:r>
          </a:p>
        </p:txBody>
      </p:sp>
      <p:pic>
        <p:nvPicPr>
          <p:cNvPr id="12" name="Picture 11" descr="output_po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48840"/>
            <a:ext cx="5059375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0D2FF"/>
                </a:solidFill>
              </a:defRPr>
            </a:pPr>
            <a:r>
              <a:t>3D ENGINE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Visual Output 4: 3D First-Person POV World (world3d.my)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72B6"/>
                </a:solidFill>
              </a:defRPr>
            </a:pPr>
            <a:r>
              <a:t>DSL 3D Script: world3d.my</a:t>
            </a:r>
          </a:p>
        </p:txBody>
      </p:sp>
      <p:pic>
        <p:nvPicPr>
          <p:cNvPr id="7" name="Picture 6" descr="code_world3d_scr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4754880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14400" y="4663440"/>
            <a:ext cx="4754880" cy="1463040"/>
          </a:xfrm>
          <a:prstGeom prst="roundRect">
            <a:avLst/>
          </a:prstGeom>
          <a:solidFill>
            <a:srgbClr val="1C2436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70916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72B6"/>
                </a:solidFill>
              </a:defRPr>
            </a:pPr>
            <a:r>
              <a:t>3D Engine Features in world3d.my</a:t>
            </a:r>
          </a:p>
          <a:p>
            <a:pPr>
              <a:defRPr sz="1050">
                <a:solidFill>
                  <a:srgbClr val="F5F7FA"/>
                </a:solidFill>
              </a:defRPr>
            </a:pPr>
            <a:r>
              <a:t>• mode_3d: Enables OpenGL depth-buffer (GL_DEPTH_TEST).</a:t>
            </a:r>
            <a:br/>
            <a:r>
              <a:t>• First-person POV camera with WASD and mouse-look.</a:t>
            </a:r>
            <a:br/>
            <a:r>
              <a:t>• Checkerboard floor grid, perimeter walls, and pillars.</a:t>
            </a:r>
            <a:br/>
            <a:r>
              <a:t>• Obstacle collision detection prevents walking through cubes.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554480"/>
            <a:ext cx="5425135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72B6"/>
                </a:solidFill>
              </a:defRPr>
            </a:pPr>
            <a:r>
              <a:t>Actual Running Output: Real-Time Navigable 3D Environment</a:t>
            </a:r>
          </a:p>
        </p:txBody>
      </p:sp>
      <p:pic>
        <p:nvPicPr>
          <p:cNvPr id="12" name="Picture 11" descr="output_world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48840"/>
            <a:ext cx="5059375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0D2FF"/>
                </a:solidFill>
              </a:defRPr>
            </a:pPr>
            <a:r>
              <a:t>MILESTONE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Evolution: Review 1 Mock Prototype vs. Current Hardware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D2FF"/>
                </a:solidFill>
              </a:defRPr>
            </a:pPr>
            <a:r>
              <a:t>Architectural Growth Across Project Milestones</a:t>
            </a:r>
          </a:p>
          <a:p>
            <a:pPr>
              <a:defRPr sz="1300" b="1">
                <a:solidFill>
                  <a:srgbClr val="F5F7FA"/>
                </a:solidFill>
              </a:defRPr>
            </a:pPr>
            <a:r>
              <a:t>⚡ Windowing &amp; Rendering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   Review 1: Mock printf() statements (mock_runtime.h) simulating drawing.</a:t>
            </a:r>
            <a:br/>
            <a:r>
              <a:t>   ➔ Current: True OpenGL 2.1 + SDL2 GPU rendering at native 60 FPS double-buffered.</a:t>
            </a:r>
          </a:p>
          <a:p>
            <a:pPr>
              <a:defRPr sz="1300" b="1">
                <a:solidFill>
                  <a:srgbClr val="F5F7FA"/>
                </a:solidFill>
              </a:defRPr>
            </a:pPr>
            <a:r>
              <a:t>⚡ GPU Shaders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   Review 1: None. Purely CPU-side text placeholders.</a:t>
            </a:r>
            <a:br/>
            <a:r>
              <a:t>   ➔ Current: 8+ dynamic GLSL fragment shaders (Plasma, Grid, CRT) + custom shader loading.</a:t>
            </a:r>
          </a:p>
          <a:p>
            <a:pPr>
              <a:defRPr sz="1300" b="1">
                <a:solidFill>
                  <a:srgbClr val="F5F7FA"/>
                </a:solidFill>
              </a:defRPr>
            </a:pPr>
            <a:r>
              <a:t>⚡ Interactive Games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   Review 1: Static geometry output only.</a:t>
            </a:r>
            <a:br/>
            <a:r>
              <a:t>   ➔ Current: Full interactive 2D Pong game with ball physics, AI tracking paddle, and score display.</a:t>
            </a:r>
          </a:p>
          <a:p>
            <a:pPr>
              <a:defRPr sz="1300" b="1">
                <a:solidFill>
                  <a:srgbClr val="F5F7FA"/>
                </a:solidFill>
              </a:defRPr>
            </a:pPr>
            <a:r>
              <a:t>⚡ 3D Graphics Support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   Review 1: 2D primitives only.</a:t>
            </a:r>
            <a:br/>
            <a:r>
              <a:t>   ➔ Current: Complete 3D first-person POV environment with depth buffer, camera look, and collision.</a:t>
            </a:r>
          </a:p>
          <a:p>
            <a:pPr>
              <a:defRPr sz="1300" b="1">
                <a:solidFill>
                  <a:srgbClr val="F5F7FA"/>
                </a:solidFill>
              </a:defRPr>
            </a:pPr>
            <a:r>
              <a:t>⚡ Math &amp; Physics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   Review 1: Basic integer coordinates.</a:t>
            </a:r>
            <a:br/>
            <a:r>
              <a:t>   ➔ Current: Floating-point circle-AABB collision, dynamic reflection vectors, and 3D wall sliding.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292608"/>
          </a:xfrm>
          <a:prstGeom prst="roundRect">
            <a:avLst/>
          </a:prstGeom>
          <a:solidFill>
            <a:srgbClr val="1E2A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0D2FF"/>
                </a:solidFill>
              </a:defRPr>
            </a:pPr>
            <a:r>
              <a:t>ROADMAP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Future Implementations &amp; Technical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Technical Roadmap &amp; Next Steps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🚀 3D Lighting &amp; Shading Pipeline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Integrate Phong and Blinn-Phong lighting models, supporting directional sunlight, ambient reflection, and point lights.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🚀 3D Model / Asset Loader (.OBJ / .GLTF)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Allow DSL scripts to import external 3D meshes: 'load_mesh "model.obj" 0 0 0'.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🚀 Sound &amp; Audio Engine (SDL_mixer)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Integrate background music and synthesized 8-bit sound effects for collisions, scores, and ambient atmospheres.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🚀 Rigid-Body Physics Engine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Expand collision detection with mass, gravity, friction, and restitution coefficients for complex interactions.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🚀 Turing-Complete DSL Extensions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Introduce user-defined variables, loop constructs (repeat 10 { ... }), and conditional branching.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54480"/>
            <a:ext cx="5425135" cy="4754880"/>
          </a:xfrm>
          <a:prstGeom prst="roundRect">
            <a:avLst/>
          </a:prstGeom>
          <a:solidFill>
            <a:srgbClr val="161C2A"/>
          </a:solidFill>
          <a:ln w="12700"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D2FF"/>
                </a:solidFill>
              </a:defRPr>
            </a:pPr>
            <a:r>
              <a:t>Project Summary &amp; Deliverables</a:t>
            </a:r>
          </a:p>
          <a:p>
            <a:pPr>
              <a:defRPr sz="1250" b="1">
                <a:solidFill>
                  <a:srgbClr val="F5F7FA"/>
                </a:solidFill>
              </a:defRPr>
            </a:pPr>
            <a:r>
              <a:t>📦 Transpiler Pipeline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Successfully proves that a custom domain-specific language can compile to native OpenGL 2 + SDL2 without performance loss.</a:t>
            </a:r>
          </a:p>
          <a:p>
            <a:pPr>
              <a:defRPr sz="1250" b="1">
                <a:solidFill>
                  <a:srgbClr val="F5F7FA"/>
                </a:solidFill>
              </a:defRPr>
            </a:pPr>
            <a:r>
              <a:t>📦 Milestone Completion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All core goals achieved: 2D primitives, 35+ colors, GPU shaders, Pong AI game, and 3D first-person world.</a:t>
            </a:r>
          </a:p>
          <a:p>
            <a:pPr>
              <a:defRPr sz="1250" b="1">
                <a:solidFill>
                  <a:srgbClr val="F5F7FA"/>
                </a:solidFill>
              </a:defRPr>
            </a:pPr>
            <a:r>
              <a:t>📦 Academic Documentation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Accompanied by a 14-page formal project report (.docx) and full technical documentation (README.md).</a:t>
            </a:r>
          </a:p>
          <a:p>
            <a:pPr>
              <a:defRPr sz="1250" b="1">
                <a:solidFill>
                  <a:srgbClr val="F5F7FA"/>
                </a:solidFill>
              </a:defRPr>
            </a:pPr>
            <a:r>
              <a:t>📦 Open-Source Verification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   Publicly hosted and verified online at: github.com/eldhoGI2/shader-compiler.</a:t>
            </a:r>
          </a:p>
          <a:p>
            <a:br/>
            <a:pPr>
              <a:defRPr sz="1400" b="1">
                <a:solidFill>
                  <a:srgbClr val="00D2FF"/>
                </a:solidFill>
              </a:defRPr>
            </a:pPr>
            <a:r>
              <a:t>Thank You! Open for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