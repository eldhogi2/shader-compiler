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37160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</a:defRPr>
            </a:pPr>
            <a:r>
              <a:t>ACADEMIC PROJECT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82880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8FAFC"/>
                </a:solidFill>
              </a:defRPr>
            </a:pPr>
            <a:r>
              <a:t>Shader Program Compiler</a:t>
            </a:r>
          </a:p>
          <a:p>
            <a:pPr>
              <a:defRPr sz="2200">
                <a:solidFill>
                  <a:srgbClr val="CBD5E1"/>
                </a:solidFill>
              </a:defRPr>
            </a:pPr>
            <a:r>
              <a:t>2D and 3D Graphics Domain-Specific Language (DSL) Engine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A high-level declarative language and source-to-source transpiler compiling to native hardware-accelerated OpenGL 2.1 and SDL2 desktop binaries.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4114800"/>
            <a:ext cx="9601200" cy="1371600"/>
          </a:xfrm>
          <a:prstGeom prst="roundRect">
            <a:avLst/>
          </a:prstGeom>
          <a:solidFill>
            <a:srgbClr val="141D2C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4206240"/>
            <a:ext cx="9235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PROJECT METADATA AND SPECIFICATIONS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Author: Eldho  |  Semester 3 Mini Project (Compiler Design and Computer Graphics)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Technology: C++17 Transpiler, ANSI C Code Generation, OpenGL 2.1, SDL2, GLSL Shaders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Source Repository: https://github.com/eldhoGI2/shader-compiler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The Problem and The Core Concept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5029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45720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8FAFC"/>
                </a:solidFill>
              </a:defRPr>
            </a:pPr>
            <a:r>
              <a:t>The Problem: Raw Graphics Boilerplate</a:t>
            </a:r>
          </a:p>
          <a:p>
            <a:pPr>
              <a:defRPr sz="1300" b="1">
                <a:solidFill>
                  <a:srgbClr val="CBD5E1"/>
                </a:solidFill>
              </a:defRPr>
            </a:pPr>
            <a:r>
              <a:t>• Extensive Setup Overhead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Creating a simple window and drawing a single shape in standard C requires over 50 lines of subsystem initialization and context management.</a:t>
            </a:r>
          </a:p>
          <a:p>
            <a:pPr>
              <a:defRPr sz="1300" b="1">
                <a:solidFill>
                  <a:srgbClr val="CBD5E1"/>
                </a:solidFill>
              </a:defRPr>
            </a:pPr>
            <a:r>
              <a:t>• Manual State Management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Developers must explicitly manage projection matrices, modelview transformations, vertex arrays, and double-buffer swaps.</a:t>
            </a:r>
          </a:p>
          <a:p>
            <a:pPr>
              <a:defRPr sz="1300" b="1">
                <a:solidFill>
                  <a:srgbClr val="CBD5E1"/>
                </a:solidFill>
              </a:defRPr>
            </a:pPr>
            <a:r>
              <a:t>• Shader Complexity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Writing and linking GLSL fragment shaders involves manual string loading, error log polling, program attachment, and uniform location caching.</a:t>
            </a:r>
          </a:p>
          <a:p>
            <a:pPr>
              <a:defRPr sz="1300" b="1">
                <a:solidFill>
                  <a:srgbClr val="CBD5E1"/>
                </a:solidFill>
              </a:defRPr>
            </a:pPr>
            <a:r>
              <a:t>• High Cognitive Barrier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Low-level API details distract from graphics logic, animation algorithms, and interactive game design.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39535" y="1463040"/>
            <a:ext cx="5120640" cy="5029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13855" y="1645920"/>
            <a:ext cx="45720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8FAFC"/>
                </a:solidFill>
              </a:defRPr>
            </a:pPr>
            <a:r>
              <a:t>The Concept: Declarative DSL</a:t>
            </a:r>
          </a:p>
          <a:p>
            <a:pPr>
              <a:defRPr sz="1300" b="1">
                <a:solidFill>
                  <a:srgbClr val="CBD5E1"/>
                </a:solidFill>
              </a:defRPr>
            </a:pPr>
            <a:r>
              <a:t>• Declarative Syntax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Developers specify what to render using concise, readable commands rather than writing procedural graphics initialization code.</a:t>
            </a:r>
          </a:p>
          <a:p>
            <a:pPr>
              <a:defRPr sz="1300" b="1">
                <a:solidFill>
                  <a:srgbClr val="CBD5E1"/>
                </a:solidFill>
              </a:defRPr>
            </a:pPr>
            <a:r>
              <a:t>• Automated Compilation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A dedicated C++ compiler parses DSL scripts, generates clean intermediate C code, and automatically builds a native executable.</a:t>
            </a:r>
          </a:p>
          <a:p>
            <a:pPr>
              <a:defRPr sz="1300" b="1">
                <a:solidFill>
                  <a:srgbClr val="CBD5E1"/>
                </a:solidFill>
              </a:defRPr>
            </a:pPr>
            <a:r>
              <a:t>• Abstracted Hardware Features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GPU fragment shaders, color dictionaries, affine transformations, and 3D camera matrices are handled automatically.</a:t>
            </a:r>
          </a:p>
          <a:p>
            <a:pPr>
              <a:defRPr sz="1300" b="1">
                <a:solidFill>
                  <a:srgbClr val="CBD5E1"/>
                </a:solidFill>
              </a:defRPr>
            </a:pPr>
            <a:r>
              <a:t>• Integrated Game and 3D Modes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Activating physics and first-person 3D navigation requires only single commands: 'pong' and 'mode_3d'.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System Architecture: End-to-End Execution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28655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peline_workflow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54480"/>
            <a:ext cx="10545775" cy="1828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3703320"/>
            <a:ext cx="3328416" cy="2788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86200"/>
            <a:ext cx="2962656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1. Frontend Lexer &amp; Parser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Reads .my source script and strips comment lines (#).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Categorizes tokens: window, shapes, colors, shaders, pong, mode_3d.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Performs syntactic parameter validation and constructs an internal Abstract Syntax Tree (AST).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3703320"/>
            <a:ext cx="3328416" cy="2788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3886200"/>
            <a:ext cx="2962656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2. Intermediate C CodeGen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Translates AST nodes into intermediate ANSI C (generated_game.c).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Injects the custom graphics engine header (#include "graphics_runtime.h").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Compiles static draw calls into high-performance OpenGL display lists (glNewList).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3703320"/>
            <a:ext cx="3328416" cy="2788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3886200"/>
            <a:ext cx="2962656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3. Native Compilation &amp; Link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Automatically invokes GCC via system() without requiring manual Makefiles.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Links system libraries: -lSDL2 -lGL -lGLU -lm.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Produces final_game: a native standalone 60 FPS executable with full GPU acceleration.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CODEBASE ORGANIZATION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Project Structure: The Core and The Body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2423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46634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1. Compiler Core (compiler.cpp)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Lexical Scanner: Recognizes 50+ token types for environment, shapes, 3D, and game logic.</a:t>
            </a:r>
            <a:br/>
            <a:r>
              <a:t>• Syntax Parser: Validates parameters, coordinates, and color specifications.</a:t>
            </a:r>
            <a:br/>
            <a:r>
              <a:t>• Code Generator: Emits generated_game.c and triggers GCC build command.</a:t>
            </a:r>
            <a:br/>
            <a:r>
              <a:t>• Binary: Compiled into standalone compiler tool ./mycompiler.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39535" y="1463040"/>
            <a:ext cx="5120640" cy="2423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8135" y="1600200"/>
            <a:ext cx="46634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2. Runtime Engine (graphics_runtime.h)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OpenGL &amp; SDL2 Subsystems: Window creation, context lifecycle, and event handling.</a:t>
            </a:r>
            <a:br/>
            <a:r>
              <a:t>• GPU Shader Engine: Compiles and executes 8+ GLSL fragment shaders (plasma, grid, waves).</a:t>
            </a:r>
            <a:br/>
            <a:r>
              <a:t>• Physics &amp; Collision: 2D ball-paddle deflection and 3D wall-sliding collision math.</a:t>
            </a:r>
            <a:br/>
            <a:r>
              <a:t>• Camera System: First-person 3D camera with mouse-look and keyboard traversal.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69080"/>
            <a:ext cx="5120640" cy="2423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06240"/>
            <a:ext cx="46634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3. Domain Script Programs (*.my)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demo.my: Initial baseline coursework proof-of-concept.</a:t>
            </a:r>
            <a:br/>
            <a:r>
              <a:t>• showcase.my: 10+ 2D geometric shapes, 35+ named colors, and linear gradients.</a:t>
            </a:r>
            <a:br/>
            <a:r>
              <a:t>• cyberpunk.my: GLSL fragment shaders, gradients, and transformation matrices.</a:t>
            </a:r>
            <a:br/>
            <a:r>
              <a:t>• pong.my: Interactive 2D Pong game with ball physics, AI paddle, and score display.</a:t>
            </a:r>
            <a:br/>
            <a:r>
              <a:t>• world3d.my: Navigable 3D first-person environment with obstacle collision.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9535" y="4069080"/>
            <a:ext cx="5120640" cy="2423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8135" y="4206240"/>
            <a:ext cx="46634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4. Intermediates and Executables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generated_game.c: Intermediate C source code produced by the transpiler.</a:t>
            </a:r>
            <a:br/>
            <a:r>
              <a:t>• mycompiler: The C++ compiler binary used to translate scripts.</a:t>
            </a:r>
            <a:br/>
            <a:r>
              <a:t>• final_game: The compiled native OpenGL desktop graphics executable.</a:t>
            </a:r>
            <a:br/>
            <a:r>
              <a:t>• plasma.frag: External user-loadable GLSL fragment shader source file.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OUTPUT &amp;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Output Demonstration: 2D Geometry &amp; GPU Shaders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4389120" cy="5029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3931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2D Primitives and Shaders</a:t>
            </a:r>
          </a:p>
          <a:p>
            <a:pPr>
              <a:defRPr sz="1250" b="1">
                <a:solidFill>
                  <a:srgbClr val="CBD5E1"/>
                </a:solidFill>
              </a:defRPr>
            </a:pPr>
            <a:r>
              <a:t>• 2D Vector Geometry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Full support for rectangles, rounded rectangles, squares, centered boxes, circles, and ellipses in both filled and outline modes.</a:t>
            </a:r>
          </a:p>
          <a:p>
            <a:pPr>
              <a:defRPr sz="1250" b="1">
                <a:solidFill>
                  <a:srgbClr val="CBD5E1"/>
                </a:solidFill>
              </a:defRPr>
            </a:pPr>
            <a:r>
              <a:t>• Color Dictionary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35+ built-in named colors (cyan, magenta, gold, lime, coral, crimson) alongside standard hex codes (#RRGGBB).</a:t>
            </a:r>
          </a:p>
          <a:p>
            <a:pPr>
              <a:defRPr sz="1250" b="1">
                <a:solidFill>
                  <a:srgbClr val="CBD5E1"/>
                </a:solidFill>
              </a:defRPr>
            </a:pPr>
            <a:r>
              <a:t>• GPU Fragment Shaders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Hardware-accelerated GLSL fragment shaders calculating per-pixel animations at 60 FPS (plasma, cyberpunk grid, waves, CRT scanlines).</a:t>
            </a:r>
          </a:p>
          <a:p>
            <a:pPr>
              <a:defRPr sz="1250" b="1">
                <a:solidFill>
                  <a:srgbClr val="CBD5E1"/>
                </a:solidFill>
              </a:defRPr>
            </a:pPr>
            <a:r>
              <a:t>• Live Shader Cycling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Pressing the Spacebar at runtime dynamically switches active fragment shaders without restarting the application.</a:t>
            </a:r>
          </a:p>
          <a:p>
            <a:pPr>
              <a:defRPr sz="1250" b="1">
                <a:solidFill>
                  <a:srgbClr val="CBD5E1"/>
                </a:solidFill>
              </a:defRPr>
            </a:pPr>
            <a:r>
              <a:t>• Launch Command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./mycompiler cyberpunk.my &amp;&amp; ./final_game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463040"/>
            <a:ext cx="6156655" cy="5029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32120" y="160020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CBD5E1"/>
                </a:solidFill>
              </a:defRPr>
            </a:pPr>
            <a:r>
              <a:t>Running Application: Real-Time GPU Fragment Shader and 2D Primitives</a:t>
            </a:r>
          </a:p>
        </p:txBody>
      </p:sp>
      <p:pic>
        <p:nvPicPr>
          <p:cNvPr id="9" name="Picture 8" descr="output_cyberpu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2011680"/>
            <a:ext cx="5699455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GAME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Output Demonstration: Interactive 2D Pong Game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4389120" cy="5029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3931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Interactive Game Engine (pong.my)</a:t>
            </a:r>
          </a:p>
          <a:p>
            <a:pPr>
              <a:defRPr sz="1200" b="1">
                <a:solidFill>
                  <a:srgbClr val="CBD5E1"/>
                </a:solidFill>
              </a:defRPr>
            </a:pPr>
            <a:r>
              <a:t>• Declarative Activation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The entire game mode is enabled with a single DSL keyword: pong.</a:t>
            </a:r>
          </a:p>
          <a:p>
            <a:pPr>
              <a:defRPr sz="1200" b="1">
                <a:solidFill>
                  <a:srgbClr val="CBD5E1"/>
                </a:solidFill>
              </a:defRPr>
            </a:pPr>
            <a:r>
              <a:t>• Player Controls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Player 1 controls the left paddle using W / S or Up / Down keys with boundary clamping.</a:t>
            </a:r>
          </a:p>
          <a:p>
            <a:pPr>
              <a:defRPr sz="1200" b="1">
                <a:solidFill>
                  <a:srgbClr val="CBD5E1"/>
                </a:solidFill>
              </a:defRPr>
            </a:pPr>
            <a:r>
              <a:t>• Autonomous AI Opponent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The AI opponent tracks the ball position with reaction delay, providing a balanced match.</a:t>
            </a:r>
          </a:p>
          <a:p>
            <a:pPr>
              <a:defRPr sz="1200" b="1">
                <a:solidFill>
                  <a:srgbClr val="CBD5E1"/>
                </a:solidFill>
              </a:defRPr>
            </a:pPr>
            <a:r>
              <a:t>• Collision Mathematics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Ball-to-paddle detection uses Circle vs. Axis-Aligned Bounding Box (AABB) intersection with angle deflection based on hit position.</a:t>
            </a:r>
          </a:p>
          <a:p>
            <a:pPr>
              <a:defRPr sz="1200" b="1">
                <a:solidFill>
                  <a:srgbClr val="CBD5E1"/>
                </a:solidFill>
              </a:defRPr>
            </a:pPr>
            <a:r>
              <a:t>• Real-Time Scoreboard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Live retro bitmap font displays player and AI scores with game reset on 'R'.</a:t>
            </a:r>
          </a:p>
          <a:p>
            <a:pPr>
              <a:defRPr sz="1200" b="1">
                <a:solidFill>
                  <a:srgbClr val="CBD5E1"/>
                </a:solidFill>
              </a:defRPr>
            </a:pPr>
            <a:r>
              <a:t>• Launch Command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./mycompiler pong.my &amp;&amp; ./final_game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463040"/>
            <a:ext cx="6156655" cy="5029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32120" y="160020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CBD5E1"/>
                </a:solidFill>
              </a:defRPr>
            </a:pPr>
            <a:r>
              <a:t>Running Application: 2D Pong Game with AI, Scoreboard, and Live Shader</a:t>
            </a:r>
          </a:p>
        </p:txBody>
      </p:sp>
      <p:pic>
        <p:nvPicPr>
          <p:cNvPr id="9" name="Picture 8" descr="output_p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2011680"/>
            <a:ext cx="5699455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3D ENGINE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Output Demonstration: 3D First-Person POV Environment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4389120" cy="5029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3931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3D World Engine (world3d.my)</a:t>
            </a:r>
          </a:p>
          <a:p>
            <a:pPr>
              <a:defRPr sz="1200" b="1">
                <a:solidFill>
                  <a:srgbClr val="CBD5E1"/>
                </a:solidFill>
              </a:defRPr>
            </a:pPr>
            <a:r>
              <a:t>• mode_3d Keyword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Switches the pipeline from 2D orthogonal projection to 3D perspective projection with depth-buffering (GL_DEPTH_TEST).</a:t>
            </a:r>
          </a:p>
          <a:p>
            <a:pPr>
              <a:defRPr sz="1200" b="1">
                <a:solidFill>
                  <a:srgbClr val="CBD5E1"/>
                </a:solidFill>
              </a:defRPr>
            </a:pPr>
            <a:r>
              <a:t>• First-Person Camera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Full 6-degrees-of-freedom navigation: WASD for forward/back/strafe movement, and mouse-look for yaw and pitch.</a:t>
            </a:r>
          </a:p>
          <a:p>
            <a:pPr>
              <a:defRPr sz="1200" b="1">
                <a:solidFill>
                  <a:srgbClr val="CBD5E1"/>
                </a:solidFill>
              </a:defRPr>
            </a:pPr>
            <a:r>
              <a:t>• Procedural Environment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DSL generates checkerboard floor grids, room boundary walls, monolith pillars, and colored cubes.</a:t>
            </a:r>
          </a:p>
          <a:p>
            <a:pPr>
              <a:defRPr sz="1200" b="1">
                <a:solidFill>
                  <a:srgbClr val="CBD5E1"/>
                </a:solidFill>
              </a:defRPr>
            </a:pPr>
            <a:r>
              <a:t>• Axial Wall-Sliding Collision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Evaluates X and Z displacement independently to prevent the camera from passing through walls and cubes while preserving smooth sliding.</a:t>
            </a:r>
          </a:p>
          <a:p>
            <a:pPr>
              <a:defRPr sz="1200" b="1">
                <a:solidFill>
                  <a:srgbClr val="CBD5E1"/>
                </a:solidFill>
              </a:defRPr>
            </a:pPr>
            <a:r>
              <a:t>• Launch Command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./mycompiler world3d.my &amp;&amp; ./final_game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463040"/>
            <a:ext cx="6156655" cy="5029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32120" y="160020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CBD5E1"/>
                </a:solidFill>
              </a:defRPr>
            </a:pPr>
            <a:r>
              <a:t>Running Application: 3D First-Person Environment with Depth Buffering</a:t>
            </a:r>
          </a:p>
        </p:txBody>
      </p:sp>
      <p:pic>
        <p:nvPicPr>
          <p:cNvPr id="9" name="Picture 8" descr="output_worl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2011680"/>
            <a:ext cx="5699455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ROADMAP &amp;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Future Implementation and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5029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45720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8FAFC"/>
                </a:solidFill>
              </a:defRPr>
            </a:pPr>
            <a:r>
              <a:t>Future Implementation Roadmap</a:t>
            </a:r>
          </a:p>
          <a:p>
            <a:pPr>
              <a:defRPr sz="1250" b="1">
                <a:solidFill>
                  <a:srgbClr val="CBD5E1"/>
                </a:solidFill>
              </a:defRPr>
            </a:pPr>
            <a:r>
              <a:t>• 3D Lighting Models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Implement Blinn-Phong shading with ambient, directional sunlight, and point light calculations in GLSL.</a:t>
            </a:r>
          </a:p>
          <a:p>
            <a:pPr>
              <a:defRPr sz="1250" b="1">
                <a:solidFill>
                  <a:srgbClr val="CBD5E1"/>
                </a:solidFill>
              </a:defRPr>
            </a:pPr>
            <a:r>
              <a:t>• 3D Model Loader (.OBJ / .GLTF)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Enable importing complex 3D meshes into DSL scenes via declarative commands like 'load_mesh "model.obj" x y z'.</a:t>
            </a:r>
          </a:p>
          <a:p>
            <a:pPr>
              <a:defRPr sz="1250" b="1">
                <a:solidFill>
                  <a:srgbClr val="CBD5E1"/>
                </a:solidFill>
              </a:defRPr>
            </a:pPr>
            <a:r>
              <a:t>• Sound Engine (SDL_mixer)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Integrate retro sound effects for paddle bounces, wall collisions, scores, and ambient background music.</a:t>
            </a:r>
          </a:p>
          <a:p>
            <a:pPr>
              <a:defRPr sz="1250" b="1">
                <a:solidFill>
                  <a:srgbClr val="CBD5E1"/>
                </a:solidFill>
              </a:defRPr>
            </a:pPr>
            <a:r>
              <a:t>• Rigid-Body Physics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Extend collision detection with mass, gravity, velocity restitution, and multi-body response.</a:t>
            </a:r>
          </a:p>
          <a:p>
            <a:pPr>
              <a:defRPr sz="1250" b="1">
                <a:solidFill>
                  <a:srgbClr val="CBD5E1"/>
                </a:solidFill>
              </a:defRPr>
            </a:pPr>
            <a:r>
              <a:t>• Language Constructs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Introduce support for user variables, repeat loops (repeat 10 { ... }), and conditional logic.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39535" y="1463040"/>
            <a:ext cx="5120640" cy="5029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13855" y="1645920"/>
            <a:ext cx="45720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8FAFC"/>
                </a:solidFill>
              </a:defRPr>
            </a:pPr>
            <a:r>
              <a:t>Project Summary and Deliverables</a:t>
            </a:r>
          </a:p>
          <a:p>
            <a:pPr>
              <a:defRPr sz="1250" b="1">
                <a:solidFill>
                  <a:srgbClr val="CBD5E1"/>
                </a:solidFill>
              </a:defRPr>
            </a:pPr>
            <a:r>
              <a:t>• Core Goal Accomplished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Successfully proved that declarative DSL scripts can be compiled into native, high-performance OpenGL applications with zero manual boilerplate.</a:t>
            </a:r>
          </a:p>
          <a:p>
            <a:pPr>
              <a:defRPr sz="1250" b="1">
                <a:solidFill>
                  <a:srgbClr val="CBD5E1"/>
                </a:solidFill>
              </a:defRPr>
            </a:pPr>
            <a:r>
              <a:t>• Functional Deliverables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Includes full 2D graphics suite, 35+ colors, GPU fragment shaders, interactive 2D Pong with AI, and a 3D first-person world engine.</a:t>
            </a:r>
          </a:p>
          <a:p>
            <a:pPr>
              <a:defRPr sz="1250" b="1">
                <a:solidFill>
                  <a:srgbClr val="CBD5E1"/>
                </a:solidFill>
              </a:defRPr>
            </a:pPr>
            <a:r>
              <a:t>• Academic Documentation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Accompanied by a 14-page formal Word report (Project_Report_Shader_Compiler_DSL.docx) and technical documentation (README.md).</a:t>
            </a:r>
          </a:p>
          <a:p>
            <a:pPr>
              <a:defRPr sz="1250" b="1">
                <a:solidFill>
                  <a:srgbClr val="CBD5E1"/>
                </a:solidFill>
              </a:defRPr>
            </a:pPr>
            <a:r>
              <a:t>• Public Repository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Code, compiler, engine runtime, and presentations are verified and hosted online at: https://github.com/eldhoGI2/shader-compiler.</a:t>
            </a:r>
          </a:p>
          <a:p>
            <a:br/>
            <a:pPr>
              <a:defRPr sz="1300" b="1">
                <a:solidFill>
                  <a:srgbClr val="F8FAFC"/>
                </a:solidFill>
              </a:defRPr>
            </a:pPr>
            <a:r>
              <a:t>Thank you. Ready for live demonstration and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